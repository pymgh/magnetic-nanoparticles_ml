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0" r:id="rId6"/>
    <p:sldId id="267" r:id="rId7"/>
    <p:sldId id="262" r:id="rId8"/>
    <p:sldId id="266" r:id="rId9"/>
    <p:sldId id="268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6C93C-A26F-01BF-E254-408FB62E6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884E52-14CB-280E-23D6-1E4FE1292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E0881-4B7F-FECF-04E5-D0429FCFE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7DE2-BDBB-4BFF-8919-F818A67467A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FAEF6-5A65-9908-7183-2543362E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C02EA-0E4D-3179-8A27-E20710EF8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7D4D3-5B0D-4D3B-8A71-4455F67BBC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930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35438-7E5E-DEFD-94BD-A782292BA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4DB57-4834-2D91-D21C-43E1D876A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BCDD0-7607-7C89-E88F-600BECBE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7DE2-BDBB-4BFF-8919-F818A67467A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5D396-D66A-9990-85F6-0791FC52E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F601E-A659-4B40-FE2E-E783F59D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7D4D3-5B0D-4D3B-8A71-4455F67BBC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0049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CA65-58AA-C146-A4B6-F0BC50AB3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E8D98-6EEC-4482-89E4-436A47BE9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A75A4-6E66-47D4-2DD3-55858562C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7DE2-BDBB-4BFF-8919-F818A67467A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22055-9357-B0C1-E4E1-F8CAC5BE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42BDC-2D5E-373F-B0D1-B1E1B494B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7D4D3-5B0D-4D3B-8A71-4455F67BBC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0311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A4A37-ADAD-B1C9-A1F4-F22EA01EA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14957-D2DC-A379-59C9-1E023B8E0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A82BE-3772-35B3-0316-2CF5EEF09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47C1E-80C0-5875-FDC5-F5C2943A5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7DE2-BDBB-4BFF-8919-F818A67467A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B1B4E-E9AD-CB36-90EE-0A9D1FAC4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25AE0-B2D0-1F3F-36B2-79BAEF26D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7D4D3-5B0D-4D3B-8A71-4455F67BBC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103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E6F52-8720-F31C-9425-394577E12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EE11F-7037-B30A-8460-15029C170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36028-5F93-A8E1-6BD4-883A763D4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CD12D8-3C71-9CF1-6BA5-81461BE9B1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C9CD98-EA15-2167-604A-FC2BEA8C8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56342E-5437-1D9C-F2CB-DE59B7830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7DE2-BDBB-4BFF-8919-F818A67467A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620863-9CBE-B5B4-322E-E02E156E2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63BBFD-03F6-0019-FE6D-CC845AF0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7D4D3-5B0D-4D3B-8A71-4455F67BBC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273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06CF5-EB67-45B9-819D-BBDBD2B2D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351131-2FD4-1010-9B6A-0B9CCE183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7DE2-BDBB-4BFF-8919-F818A67467A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F3BDE-73D0-C38A-9887-57521A60E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919590-228A-A288-3AC0-B4DE7CDDB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7D4D3-5B0D-4D3B-8A71-4455F67BBC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182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EC8E40-7618-5B06-0ADA-1D54D0893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7DE2-BDBB-4BFF-8919-F818A67467A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35C3FA-306B-D035-CA70-77E2C7B71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5A24F-D6DE-C9C0-2A9A-DE750BEE8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7D4D3-5B0D-4D3B-8A71-4455F67BBC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886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D8B9B-A70C-1108-43B7-2E4C64C8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CBC6B-0174-AB79-19FC-F1C89F963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27785-D1EE-6513-40E6-0DD8884D39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8C0B3-E8FF-7003-425C-271E100E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7DE2-BDBB-4BFF-8919-F818A67467A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4695D-E090-EC39-DC01-9A72192F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8145E-8B9E-2A43-A657-F54BF2660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7D4D3-5B0D-4D3B-8A71-4455F67BBC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75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09E84-976D-F46E-63B0-D5C97B288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0E23DB-32E5-68CF-B7BE-A1E2D0333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2A5970-58BB-458D-A4D0-A48F6CF1E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DF860-A99B-9690-61AD-DD5620961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7DE2-BDBB-4BFF-8919-F818A67467A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846CF-D2BF-BA93-1367-EF83998F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6D7DE-2EA0-7B37-BD66-EE1F3ED1F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7D4D3-5B0D-4D3B-8A71-4455F67BBC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8487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B8257-AD4E-CB9F-88A1-AFC4A08B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3E0DA4-2BB5-AE49-B92C-80169D659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0A059-5726-55C1-5074-F1B81BBC8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7DE2-BDBB-4BFF-8919-F818A67467A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21C62-A092-549F-8AA0-B247934D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121A4-2426-C8A8-3F7E-2D3A3AA73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7D4D3-5B0D-4D3B-8A71-4455F67BBC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969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66A89C-5AE4-92FE-FB93-70B00E1FF6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D97C83-EE9F-A7B4-B9E3-690F1D036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47866-4D69-E427-1C4A-5798008D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7DE2-BDBB-4BFF-8919-F818A67467A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B382-D2D4-6388-1FEB-F87736896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CD3C3-E8CE-B036-8F82-CCDA986CA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7D4D3-5B0D-4D3B-8A71-4455F67BBC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817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044F58-12FC-4C47-476D-FDD7C6FE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12E5A-EEC5-B9AD-E75D-E585ECAA1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750BF-F1F8-686E-238D-798317C55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67DE2-BDBB-4BFF-8919-F818A67467A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3F5F0-3619-AEC0-410E-5FAE0E392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0E0BB-F25A-7FD4-DFE4-CEB28F4B0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D7D4D3-5B0D-4D3B-8A71-4455F67BBC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5644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687D5-DC10-1F99-C9CE-3EF9E50B6B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500" dirty="0"/>
              <a:t>Machine Learning-Based Prediction of the Specific Absorption Rate of Magnetic Nanoparticles</a:t>
            </a:r>
            <a:endParaRPr lang="en-GB" sz="45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19682-7BDC-8B14-3313-D54443078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65599"/>
            <a:ext cx="9144000" cy="1655762"/>
          </a:xfrm>
        </p:spPr>
        <p:txBody>
          <a:bodyPr/>
          <a:lstStyle/>
          <a:p>
            <a:r>
              <a:rPr lang="en-GB" dirty="0"/>
              <a:t>Md Golam Hafiz</a:t>
            </a:r>
          </a:p>
        </p:txBody>
      </p:sp>
    </p:spTree>
    <p:extLst>
      <p:ext uri="{BB962C8B-B14F-4D97-AF65-F5344CB8AC3E}">
        <p14:creationId xmlns:p14="http://schemas.microsoft.com/office/powerpoint/2010/main" val="4121696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F352D-C148-1796-8DCC-576228480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EAC37-8528-5921-22C6-C8685145F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49" y="0"/>
            <a:ext cx="10515600" cy="1325563"/>
          </a:xfrm>
        </p:spPr>
        <p:txBody>
          <a:bodyPr/>
          <a:lstStyle/>
          <a:p>
            <a:r>
              <a:rPr lang="en-GB" dirty="0"/>
              <a:t>Motivation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2266AE-4EB8-EB8E-5D33-CB288B6D7006}"/>
              </a:ext>
            </a:extLst>
          </p:cNvPr>
          <p:cNvSpPr txBox="1"/>
          <p:nvPr/>
        </p:nvSpPr>
        <p:spPr>
          <a:xfrm>
            <a:off x="336248" y="6518787"/>
            <a:ext cx="5504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0" i="0" dirty="0">
                <a:solidFill>
                  <a:srgbClr val="222222"/>
                </a:solidFill>
                <a:effectLst/>
                <a:latin typeface="Merriweather Sans" pitchFamily="2" charset="0"/>
              </a:rPr>
              <a:t>Ahmad et al. (2026), https://doi.org/10.1007/s43994-025-00262-1</a:t>
            </a:r>
            <a:endParaRPr lang="en-GB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76A3EE-5905-D9F8-2BB0-88EE750BE6BB}"/>
              </a:ext>
            </a:extLst>
          </p:cNvPr>
          <p:cNvSpPr txBox="1"/>
          <p:nvPr/>
        </p:nvSpPr>
        <p:spPr>
          <a:xfrm>
            <a:off x="911919" y="1134590"/>
            <a:ext cx="7620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GB" dirty="0"/>
              <a:t>Magnetic nano particles are useful in therapeutic techniques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8F34D8-C17E-6FBA-33AC-C0F0BF88C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941" y="2526394"/>
            <a:ext cx="6355750" cy="27915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D2AD2B-D48A-CFA9-F278-DD371992F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881" y="5624811"/>
            <a:ext cx="1600423" cy="4953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15D547-53E0-E72E-E1B8-E274A1C2B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270" y="5800948"/>
            <a:ext cx="1047896" cy="36200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CE44DF-17EC-CD17-5233-0B2F5F2528A3}"/>
              </a:ext>
            </a:extLst>
          </p:cNvPr>
          <p:cNvSpPr txBox="1"/>
          <p:nvPr/>
        </p:nvSpPr>
        <p:spPr>
          <a:xfrm>
            <a:off x="785907" y="2013842"/>
            <a:ext cx="2204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Rotation of nanoparticles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B41302-6990-B485-4F23-DFECC1235817}"/>
              </a:ext>
            </a:extLst>
          </p:cNvPr>
          <p:cNvSpPr txBox="1"/>
          <p:nvPr/>
        </p:nvSpPr>
        <p:spPr>
          <a:xfrm>
            <a:off x="3450786" y="2036273"/>
            <a:ext cx="2772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Local heat 41°C - 47°C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006B62-8CE4-4AD4-6F59-D9F0AA6F5D2B}"/>
              </a:ext>
            </a:extLst>
          </p:cNvPr>
          <p:cNvSpPr txBox="1"/>
          <p:nvPr/>
        </p:nvSpPr>
        <p:spPr>
          <a:xfrm>
            <a:off x="5563574" y="2036273"/>
            <a:ext cx="2969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Local destruction of tumour cells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46EF08-8EB5-CA78-2C12-4400E2D78BF2}"/>
              </a:ext>
            </a:extLst>
          </p:cNvPr>
          <p:cNvSpPr txBox="1"/>
          <p:nvPr/>
        </p:nvSpPr>
        <p:spPr>
          <a:xfrm>
            <a:off x="8709896" y="2949677"/>
            <a:ext cx="28021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Challenges: 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GB" dirty="0"/>
              <a:t>heating efficiency depends on </a:t>
            </a:r>
          </a:p>
          <a:p>
            <a:pPr marL="285750" indent="-285750"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en-GB" dirty="0"/>
              <a:t>Physical</a:t>
            </a:r>
          </a:p>
          <a:p>
            <a:pPr marL="285750" indent="-285750"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en-GB" dirty="0"/>
              <a:t>chemical and</a:t>
            </a:r>
          </a:p>
          <a:p>
            <a:pPr marL="285750" indent="-285750"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en-GB" dirty="0"/>
              <a:t>magnetic properties of the nano particles</a:t>
            </a:r>
          </a:p>
          <a:p>
            <a:endParaRPr lang="en-GB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90858C0-377E-A14F-7204-2ACA767D8AEB}"/>
              </a:ext>
            </a:extLst>
          </p:cNvPr>
          <p:cNvSpPr/>
          <p:nvPr/>
        </p:nvSpPr>
        <p:spPr>
          <a:xfrm>
            <a:off x="8532916" y="2792361"/>
            <a:ext cx="2969342" cy="2625213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662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B5E13-27BD-07F3-B37B-F3DEA2EBB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E06ED-1B5F-23FE-81F8-2DA8876FF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GB" dirty="0"/>
              <a:t>Research background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065491-41FE-9F53-6923-1247F0E7E8A4}"/>
              </a:ext>
            </a:extLst>
          </p:cNvPr>
          <p:cNvSpPr txBox="1"/>
          <p:nvPr/>
        </p:nvSpPr>
        <p:spPr>
          <a:xfrm>
            <a:off x="518160" y="6338108"/>
            <a:ext cx="5577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err="1">
                <a:solidFill>
                  <a:srgbClr val="222222"/>
                </a:solidFill>
                <a:latin typeface="-apple-system"/>
              </a:rPr>
              <a:t>Mamia</a:t>
            </a:r>
            <a:r>
              <a:rPr lang="en-GB" sz="1200" dirty="0">
                <a:solidFill>
                  <a:srgbClr val="222222"/>
                </a:solidFill>
                <a:latin typeface="-apple-system"/>
              </a:rPr>
              <a:t> et al. (2011), </a:t>
            </a:r>
            <a:r>
              <a:rPr lang="en-GB" sz="1200" b="0" i="0" dirty="0">
                <a:solidFill>
                  <a:srgbClr val="222222"/>
                </a:solidFill>
                <a:effectLst/>
                <a:latin typeface="-apple-system"/>
              </a:rPr>
              <a:t>https://doi.org/10.1038/srep00157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271BC1-10A0-ED03-105F-74B4ADD9A5A9}"/>
              </a:ext>
            </a:extLst>
          </p:cNvPr>
          <p:cNvSpPr txBox="1"/>
          <p:nvPr/>
        </p:nvSpPr>
        <p:spPr>
          <a:xfrm>
            <a:off x="629264" y="1102075"/>
            <a:ext cx="10588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GB" dirty="0"/>
              <a:t>Specific absorption rate (SAR): </a:t>
            </a:r>
            <a:r>
              <a:rPr lang="en-US" dirty="0"/>
              <a:t>heat generation rate per unit mass of magnetic material</a:t>
            </a:r>
            <a:endParaRPr lang="en-GB" dirty="0"/>
          </a:p>
        </p:txBody>
      </p:sp>
      <p:pic>
        <p:nvPicPr>
          <p:cNvPr id="4" name="Picture 3" descr="A diagram of a magnetic field&#10;&#10;Description automatically generated">
            <a:extLst>
              <a:ext uri="{FF2B5EF4-FFF2-40B4-BE49-F238E27FC236}">
                <a16:creationId xmlns:a16="http://schemas.microsoft.com/office/drawing/2014/main" id="{527920FC-9083-6ACB-32AA-D18C6F1D1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818" y="1993911"/>
            <a:ext cx="5053782" cy="382169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E112EB4-9A28-FCB8-7679-6312DE60F0C9}"/>
              </a:ext>
            </a:extLst>
          </p:cNvPr>
          <p:cNvSpPr/>
          <p:nvPr/>
        </p:nvSpPr>
        <p:spPr>
          <a:xfrm>
            <a:off x="1585449" y="1976059"/>
            <a:ext cx="1868129" cy="85521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27C169-D8CC-4866-6651-E251CBDD899E}"/>
              </a:ext>
            </a:extLst>
          </p:cNvPr>
          <p:cNvSpPr txBox="1"/>
          <p:nvPr/>
        </p:nvSpPr>
        <p:spPr>
          <a:xfrm>
            <a:off x="1799303" y="2021527"/>
            <a:ext cx="1868128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Nano particles properties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7A02B8-4341-0DD9-DE5D-506F2EE24C54}"/>
              </a:ext>
            </a:extLst>
          </p:cNvPr>
          <p:cNvSpPr/>
          <p:nvPr/>
        </p:nvSpPr>
        <p:spPr>
          <a:xfrm>
            <a:off x="1585449" y="3366836"/>
            <a:ext cx="1868129" cy="92953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1B291A-B051-604E-E898-AF6DD61E2E3A}"/>
              </a:ext>
            </a:extLst>
          </p:cNvPr>
          <p:cNvSpPr txBox="1"/>
          <p:nvPr/>
        </p:nvSpPr>
        <p:spPr>
          <a:xfrm>
            <a:off x="1712043" y="3514001"/>
            <a:ext cx="1654275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Field condition and medium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C4EF459A-C8E9-82E8-9344-AA2D1695245D}"/>
              </a:ext>
            </a:extLst>
          </p:cNvPr>
          <p:cNvSpPr/>
          <p:nvPr/>
        </p:nvSpPr>
        <p:spPr>
          <a:xfrm>
            <a:off x="2241756" y="4329257"/>
            <a:ext cx="417872" cy="466380"/>
          </a:xfrm>
          <a:prstGeom prst="downArrow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83C01B2-66C6-9486-9349-B38F3337D357}"/>
              </a:ext>
            </a:extLst>
          </p:cNvPr>
          <p:cNvSpPr/>
          <p:nvPr/>
        </p:nvSpPr>
        <p:spPr>
          <a:xfrm>
            <a:off x="1585449" y="4821453"/>
            <a:ext cx="1868129" cy="71456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117E06-9501-4A90-2785-C74CF47C43F9}"/>
              </a:ext>
            </a:extLst>
          </p:cNvPr>
          <p:cNvSpPr txBox="1"/>
          <p:nvPr/>
        </p:nvSpPr>
        <p:spPr>
          <a:xfrm>
            <a:off x="2251586" y="5013733"/>
            <a:ext cx="791498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SAR</a:t>
            </a:r>
          </a:p>
        </p:txBody>
      </p:sp>
      <p:sp>
        <p:nvSpPr>
          <p:cNvPr id="18" name="Plus Sign 17">
            <a:extLst>
              <a:ext uri="{FF2B5EF4-FFF2-40B4-BE49-F238E27FC236}">
                <a16:creationId xmlns:a16="http://schemas.microsoft.com/office/drawing/2014/main" id="{147F49FF-57BD-D729-166A-2884405CE0D5}"/>
              </a:ext>
            </a:extLst>
          </p:cNvPr>
          <p:cNvSpPr/>
          <p:nvPr/>
        </p:nvSpPr>
        <p:spPr>
          <a:xfrm>
            <a:off x="2155720" y="2779497"/>
            <a:ext cx="653845" cy="646331"/>
          </a:xfrm>
          <a:prstGeom prst="mathPlus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01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4" grpId="0" animBg="1"/>
      <p:bldP spid="15" grpId="0" animBg="1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7CAF2-1302-3B29-B0AF-A7C65BA65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4F3B-E7B0-C78D-EF70-AD43B0389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GB" dirty="0"/>
              <a:t>Methods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84EF71D-8557-EE65-E7E0-7223EA7FDEAA}"/>
              </a:ext>
            </a:extLst>
          </p:cNvPr>
          <p:cNvSpPr/>
          <p:nvPr/>
        </p:nvSpPr>
        <p:spPr>
          <a:xfrm>
            <a:off x="2954593" y="1068604"/>
            <a:ext cx="6282813" cy="76241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1E737D-861C-9B8B-37E9-A370DCE6239B}"/>
              </a:ext>
            </a:extLst>
          </p:cNvPr>
          <p:cNvSpPr txBox="1"/>
          <p:nvPr/>
        </p:nvSpPr>
        <p:spPr>
          <a:xfrm>
            <a:off x="3382296" y="1092284"/>
            <a:ext cx="54175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0" lvl="3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000" dirty="0"/>
              <a:t>Nanoparticle dataset</a:t>
            </a:r>
          </a:p>
          <a:p>
            <a:r>
              <a:rPr lang="en-US" sz="1600" dirty="0"/>
              <a:t>Physical, chemical, magnetic, coating and medium features</a:t>
            </a:r>
          </a:p>
          <a:p>
            <a:endParaRPr lang="en-GB" dirty="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569CBADB-6AD5-C019-3AB7-0EE2D76FDBF8}"/>
              </a:ext>
            </a:extLst>
          </p:cNvPr>
          <p:cNvSpPr/>
          <p:nvPr/>
        </p:nvSpPr>
        <p:spPr>
          <a:xfrm>
            <a:off x="5879689" y="1858302"/>
            <a:ext cx="422787" cy="481780"/>
          </a:xfrm>
          <a:prstGeom prst="downArrow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E1ED4F7-D78F-4EB9-38B7-CBC3170E284C}"/>
              </a:ext>
            </a:extLst>
          </p:cNvPr>
          <p:cNvSpPr/>
          <p:nvPr/>
        </p:nvSpPr>
        <p:spPr>
          <a:xfrm>
            <a:off x="2954593" y="2384328"/>
            <a:ext cx="6282813" cy="63172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1935D08-8AF7-98FA-1CFA-AFD0F0702AF0}"/>
              </a:ext>
            </a:extLst>
          </p:cNvPr>
          <p:cNvSpPr/>
          <p:nvPr/>
        </p:nvSpPr>
        <p:spPr>
          <a:xfrm>
            <a:off x="5879689" y="3052017"/>
            <a:ext cx="422787" cy="481780"/>
          </a:xfrm>
          <a:prstGeom prst="downArrow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BEBED4-2AFC-5C28-F8DD-1D0BF67570B1}"/>
              </a:ext>
            </a:extLst>
          </p:cNvPr>
          <p:cNvSpPr txBox="1"/>
          <p:nvPr/>
        </p:nvSpPr>
        <p:spPr>
          <a:xfrm>
            <a:off x="3633018" y="2487561"/>
            <a:ext cx="4896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GB" sz="2000" dirty="0"/>
              <a:t>Data processing and splitting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9EEBF8C-29F9-EC17-69E1-016FFFFA490A}"/>
              </a:ext>
            </a:extLst>
          </p:cNvPr>
          <p:cNvSpPr/>
          <p:nvPr/>
        </p:nvSpPr>
        <p:spPr>
          <a:xfrm>
            <a:off x="2954593" y="3591888"/>
            <a:ext cx="2993923" cy="68088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4BA0015F-D226-E798-9E47-FFFAE94F093D}"/>
              </a:ext>
            </a:extLst>
          </p:cNvPr>
          <p:cNvSpPr/>
          <p:nvPr/>
        </p:nvSpPr>
        <p:spPr>
          <a:xfrm>
            <a:off x="5879689" y="4314558"/>
            <a:ext cx="422787" cy="481780"/>
          </a:xfrm>
          <a:prstGeom prst="downArrow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CDD538B-E92E-9D51-0B3A-85B7992538E9}"/>
              </a:ext>
            </a:extLst>
          </p:cNvPr>
          <p:cNvSpPr/>
          <p:nvPr/>
        </p:nvSpPr>
        <p:spPr>
          <a:xfrm>
            <a:off x="6238566" y="3591888"/>
            <a:ext cx="2993923" cy="68088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461478-2E14-7364-26B9-84334F02E3A4}"/>
              </a:ext>
            </a:extLst>
          </p:cNvPr>
          <p:cNvSpPr txBox="1"/>
          <p:nvPr/>
        </p:nvSpPr>
        <p:spPr>
          <a:xfrm>
            <a:off x="3266769" y="3591889"/>
            <a:ext cx="24089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GB" sz="2000" dirty="0"/>
              <a:t>Ridge regression</a:t>
            </a:r>
          </a:p>
          <a:p>
            <a:pPr algn="ctr"/>
            <a:r>
              <a:rPr lang="en-GB" sz="1600" dirty="0"/>
              <a:t>Linear baseline</a:t>
            </a:r>
          </a:p>
          <a:p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E48CB2-BBB1-9B0F-8F85-61A75CFB4B57}"/>
              </a:ext>
            </a:extLst>
          </p:cNvPr>
          <p:cNvSpPr txBox="1"/>
          <p:nvPr/>
        </p:nvSpPr>
        <p:spPr>
          <a:xfrm>
            <a:off x="6437669" y="3591889"/>
            <a:ext cx="2595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GB" sz="2000" dirty="0"/>
              <a:t>Random forest</a:t>
            </a:r>
          </a:p>
          <a:p>
            <a:pPr algn="ctr"/>
            <a:r>
              <a:rPr lang="en-GB" sz="1600" dirty="0"/>
              <a:t>Nonlinear model</a:t>
            </a:r>
          </a:p>
          <a:p>
            <a:endParaRPr lang="en-GB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62C3C27-90FA-ABD3-B82C-27A69A7200F9}"/>
              </a:ext>
            </a:extLst>
          </p:cNvPr>
          <p:cNvSpPr/>
          <p:nvPr/>
        </p:nvSpPr>
        <p:spPr>
          <a:xfrm>
            <a:off x="2954593" y="4840580"/>
            <a:ext cx="6282813" cy="95410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FA100A-291C-7423-B283-5F4F7A0BADAF}"/>
                  </a:ext>
                </a:extLst>
              </p:cNvPr>
              <p:cNvSpPr txBox="1"/>
              <p:nvPr/>
            </p:nvSpPr>
            <p:spPr>
              <a:xfrm>
                <a:off x="4746521" y="4871357"/>
                <a:ext cx="3355260" cy="944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ctr">
                  <a:buClr>
                    <a:srgbClr val="C00000"/>
                  </a:buClr>
                  <a:buFont typeface="Wingdings" panose="05000000000000000000" pitchFamily="2" charset="2"/>
                  <a:buChar char="q"/>
                </a:pPr>
                <a:r>
                  <a:rPr lang="en-US" sz="2000" dirty="0"/>
                  <a:t>Performance evaluation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, RMSE and MAE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FA100A-291C-7423-B283-5F4F7A0BA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521" y="4871357"/>
                <a:ext cx="3355260" cy="944426"/>
              </a:xfrm>
              <a:prstGeom prst="rect">
                <a:avLst/>
              </a:prstGeom>
              <a:blipFill>
                <a:blip r:embed="rId2"/>
                <a:stretch>
                  <a:fillRect t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256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/>
      <p:bldP spid="13" grpId="0" animBg="1"/>
      <p:bldP spid="14" grpId="0" animBg="1"/>
      <p:bldP spid="15" grpId="0" animBg="1"/>
      <p:bldP spid="16" grpId="0"/>
      <p:bldP spid="17" grpId="0"/>
      <p:bldP spid="18" grpId="0" animBg="1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BB3F4-C1AA-2517-14B6-B52F7B8B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GB" dirty="0"/>
              <a:t>Research update</a:t>
            </a:r>
          </a:p>
        </p:txBody>
      </p:sp>
      <p:pic>
        <p:nvPicPr>
          <p:cNvPr id="7" name="Picture 6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74A82D88-97C3-6218-C38D-5111650C3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923" y="2286357"/>
            <a:ext cx="5115574" cy="4035493"/>
          </a:xfrm>
          <a:prstGeom prst="rect">
            <a:avLst/>
          </a:prstGeom>
        </p:spPr>
      </p:pic>
      <p:pic>
        <p:nvPicPr>
          <p:cNvPr id="9" name="Picture 8" descr="A graph with blue dots and red line&#10;&#10;Description automatically generated">
            <a:extLst>
              <a:ext uri="{FF2B5EF4-FFF2-40B4-BE49-F238E27FC236}">
                <a16:creationId xmlns:a16="http://schemas.microsoft.com/office/drawing/2014/main" id="{06DBE2E0-F3DB-FEA1-D6B3-8C5A2560EB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69" y="2256861"/>
            <a:ext cx="4831088" cy="41332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D441AF-CFC4-0D37-6E3C-C99ABEEAFB29}"/>
              </a:ext>
            </a:extLst>
          </p:cNvPr>
          <p:cNvSpPr txBox="1"/>
          <p:nvPr/>
        </p:nvSpPr>
        <p:spPr>
          <a:xfrm>
            <a:off x="518160" y="1292301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GB" dirty="0"/>
              <a:t>T</a:t>
            </a:r>
            <a:r>
              <a:rPr lang="en-US" dirty="0"/>
              <a:t>he random forest regression model outperforms Ridge regression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649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C422C-D756-729F-AA4C-EEDCEEE9F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BB31-AF44-7D23-545D-FA461CA25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GB" dirty="0"/>
              <a:t>Research update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58E3D-8E6E-F6E3-893D-C249B64AB3E6}"/>
              </a:ext>
            </a:extLst>
          </p:cNvPr>
          <p:cNvSpPr txBox="1"/>
          <p:nvPr/>
        </p:nvSpPr>
        <p:spPr>
          <a:xfrm>
            <a:off x="284480" y="1160869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GB" dirty="0"/>
              <a:t>Particle core and coercive fields are important in SAR predictions</a:t>
            </a:r>
          </a:p>
        </p:txBody>
      </p:sp>
      <p:pic>
        <p:nvPicPr>
          <p:cNvPr id="9" name="Picture 8" descr="A graph with blue and white bars&#10;&#10;Description automatically generated">
            <a:extLst>
              <a:ext uri="{FF2B5EF4-FFF2-40B4-BE49-F238E27FC236}">
                <a16:creationId xmlns:a16="http://schemas.microsoft.com/office/drawing/2014/main" id="{3D111E9F-9D7E-0A96-73BA-EA1424D41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937" y="1984919"/>
            <a:ext cx="7456939" cy="4320000"/>
          </a:xfrm>
          <a:prstGeom prst="rect">
            <a:avLst/>
          </a:prstGeom>
        </p:spPr>
      </p:pic>
      <p:sp>
        <p:nvSpPr>
          <p:cNvPr id="10" name="Cloud 9">
            <a:extLst>
              <a:ext uri="{FF2B5EF4-FFF2-40B4-BE49-F238E27FC236}">
                <a16:creationId xmlns:a16="http://schemas.microsoft.com/office/drawing/2014/main" id="{6D7EB593-4727-82F1-E316-7EC0F0338495}"/>
              </a:ext>
            </a:extLst>
          </p:cNvPr>
          <p:cNvSpPr/>
          <p:nvPr/>
        </p:nvSpPr>
        <p:spPr>
          <a:xfrm>
            <a:off x="9023256" y="3195484"/>
            <a:ext cx="2297208" cy="1690001"/>
          </a:xfrm>
          <a:prstGeom prst="cloud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8039A5-E25D-42BE-35C4-66A200F8C424}"/>
              </a:ext>
            </a:extLst>
          </p:cNvPr>
          <p:cNvSpPr txBox="1"/>
          <p:nvPr/>
        </p:nvSpPr>
        <p:spPr>
          <a:xfrm>
            <a:off x="9222658" y="3775587"/>
            <a:ext cx="1898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 5 parameters</a:t>
            </a:r>
          </a:p>
        </p:txBody>
      </p:sp>
    </p:spTree>
    <p:extLst>
      <p:ext uri="{BB962C8B-B14F-4D97-AF65-F5344CB8AC3E}">
        <p14:creationId xmlns:p14="http://schemas.microsoft.com/office/powerpoint/2010/main" val="293901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BC45E-5BBC-7A2A-870E-1AC9D5AD3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36656-7E4F-F688-1252-4B878F7C0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GB" dirty="0"/>
              <a:t>Summary and outlook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226698-F124-FA34-1F5C-D13F225916DC}"/>
                  </a:ext>
                </a:extLst>
              </p:cNvPr>
              <p:cNvSpPr txBox="1"/>
              <p:nvPr/>
            </p:nvSpPr>
            <p:spPr>
              <a:xfrm>
                <a:off x="1406013" y="2136338"/>
                <a:ext cx="10515600" cy="265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rgbClr val="C00000"/>
                  </a:buClr>
                </a:pPr>
                <a:endParaRPr lang="en-GB" dirty="0"/>
              </a:p>
              <a:p>
                <a:pPr marL="285750" indent="-285750">
                  <a:buClr>
                    <a:srgbClr val="C00000"/>
                  </a:buClr>
                  <a:buFont typeface="Wingdings" panose="05000000000000000000" pitchFamily="2" charset="2"/>
                  <a:buChar char="q"/>
                </a:pPr>
                <a:r>
                  <a:rPr lang="en-US" dirty="0"/>
                  <a:t>Random forest achieved better predictive performance than Ridge regression.</a:t>
                </a:r>
              </a:p>
              <a:p>
                <a:pPr>
                  <a:buClr>
                    <a:srgbClr val="C00000"/>
                  </a:buClr>
                </a:pPr>
                <a:endParaRPr lang="en-US" dirty="0"/>
              </a:p>
              <a:p>
                <a:pPr marL="285750" indent="-285750">
                  <a:buClr>
                    <a:srgbClr val="C00000"/>
                  </a:buClr>
                  <a:buFont typeface="Wingdings" panose="05000000000000000000" pitchFamily="2" charset="2"/>
                  <a:buChar char="q"/>
                </a:pPr>
                <a:r>
                  <a:rPr lang="en-US" dirty="0"/>
                  <a:t>The reported test or evaluation metrics were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= 0.98 and RMSE = 48.467 W/g</a:t>
                </a:r>
              </a:p>
              <a:p>
                <a:pPr>
                  <a:buClr>
                    <a:srgbClr val="C00000"/>
                  </a:buClr>
                </a:pPr>
                <a:endParaRPr lang="en-US" dirty="0"/>
              </a:p>
              <a:p>
                <a:pPr marL="285750" indent="-285750">
                  <a:buClr>
                    <a:srgbClr val="C00000"/>
                  </a:buClr>
                  <a:buFont typeface="Wingdings" panose="05000000000000000000" pitchFamily="2" charset="2"/>
                  <a:buChar char="q"/>
                </a:pPr>
                <a:r>
                  <a:rPr lang="en-US" dirty="0"/>
                  <a:t>Feature-importance analysis identified key predictors of SAR.</a:t>
                </a:r>
                <a:endParaRPr lang="en-GB" dirty="0"/>
              </a:p>
              <a:p>
                <a:pPr marL="285750" indent="-285750">
                  <a:buClr>
                    <a:srgbClr val="C00000"/>
                  </a:buClr>
                  <a:buFont typeface="Wingdings" panose="05000000000000000000" pitchFamily="2" charset="2"/>
                  <a:buChar char="q"/>
                </a:pPr>
                <a:endParaRPr lang="en-GB" dirty="0"/>
              </a:p>
              <a:p>
                <a:pPr marL="285750" indent="-285750">
                  <a:buClr>
                    <a:srgbClr val="C00000"/>
                  </a:buClr>
                  <a:buFont typeface="Wingdings" panose="05000000000000000000" pitchFamily="2" charset="2"/>
                  <a:buChar char="q"/>
                </a:pPr>
                <a:endParaRPr lang="en-GB" dirty="0"/>
              </a:p>
              <a:p>
                <a:pPr marL="285750" indent="-285750">
                  <a:buClr>
                    <a:srgbClr val="C00000"/>
                  </a:buClr>
                  <a:buFont typeface="Wingdings" panose="05000000000000000000" pitchFamily="2" charset="2"/>
                  <a:buChar char="q"/>
                </a:pPr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226698-F124-FA34-1F5C-D13F22591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013" y="2136338"/>
                <a:ext cx="10515600" cy="2652136"/>
              </a:xfrm>
              <a:prstGeom prst="rect">
                <a:avLst/>
              </a:prstGeo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00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03A00-BDD1-A594-F4DE-132FF7CCD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083" y="2766218"/>
            <a:ext cx="3057833" cy="1325563"/>
          </a:xfrm>
        </p:spPr>
        <p:txBody>
          <a:bodyPr/>
          <a:lstStyle/>
          <a:p>
            <a:r>
              <a:rPr lang="en-GB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96432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14CE8-3E34-555D-E7AC-6EFCA5AEB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080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0C5FF-176B-F510-52D5-8E41DA572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BB5D9-D7B8-7B6A-5978-597EFFDDC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GB" dirty="0"/>
              <a:t>Research update</a:t>
            </a:r>
          </a:p>
        </p:txBody>
      </p:sp>
      <p:pic>
        <p:nvPicPr>
          <p:cNvPr id="5" name="Picture 4" descr="A bar graph with text&#10;&#10;Description automatically generated">
            <a:extLst>
              <a:ext uri="{FF2B5EF4-FFF2-40B4-BE49-F238E27FC236}">
                <a16:creationId xmlns:a16="http://schemas.microsoft.com/office/drawing/2014/main" id="{2DD6AF21-4760-1251-E9B7-1574D001F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24" y="1991360"/>
            <a:ext cx="5677621" cy="4719157"/>
          </a:xfrm>
          <a:prstGeom prst="rect">
            <a:avLst/>
          </a:prstGeom>
        </p:spPr>
      </p:pic>
      <p:pic>
        <p:nvPicPr>
          <p:cNvPr id="3" name="Picture 2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5AA39BF4-A2D5-E29C-5394-3ECE817544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0" y="1660070"/>
            <a:ext cx="6187440" cy="51796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58A891-D8F8-9DCB-DF8B-1FF3DA591795}"/>
              </a:ext>
            </a:extLst>
          </p:cNvPr>
          <p:cNvSpPr txBox="1"/>
          <p:nvPr/>
        </p:nvSpPr>
        <p:spPr>
          <a:xfrm>
            <a:off x="284480" y="1160869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GB" dirty="0"/>
              <a:t>Particle core and </a:t>
            </a:r>
            <a:r>
              <a:rPr lang="en-GB" dirty="0" err="1"/>
              <a:t>coersive</a:t>
            </a:r>
            <a:r>
              <a:rPr lang="en-GB" dirty="0"/>
              <a:t> fields are important in SAR predictions</a:t>
            </a:r>
          </a:p>
        </p:txBody>
      </p:sp>
    </p:spTree>
    <p:extLst>
      <p:ext uri="{BB962C8B-B14F-4D97-AF65-F5344CB8AC3E}">
        <p14:creationId xmlns:p14="http://schemas.microsoft.com/office/powerpoint/2010/main" val="413562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222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-apple-system</vt:lpstr>
      <vt:lpstr>Aptos</vt:lpstr>
      <vt:lpstr>Aptos Display</vt:lpstr>
      <vt:lpstr>Arial</vt:lpstr>
      <vt:lpstr>Calibri</vt:lpstr>
      <vt:lpstr>Cambria Math</vt:lpstr>
      <vt:lpstr>Courier New</vt:lpstr>
      <vt:lpstr>Merriweather Sans</vt:lpstr>
      <vt:lpstr>Wingdings</vt:lpstr>
      <vt:lpstr>Office Theme</vt:lpstr>
      <vt:lpstr>Machine Learning-Based Prediction of the Specific Absorption Rate of Magnetic Nanoparticles</vt:lpstr>
      <vt:lpstr>Motivation</vt:lpstr>
      <vt:lpstr>Research background</vt:lpstr>
      <vt:lpstr>Methods</vt:lpstr>
      <vt:lpstr>Research update</vt:lpstr>
      <vt:lpstr>Research update</vt:lpstr>
      <vt:lpstr>Summary and outlook</vt:lpstr>
      <vt:lpstr>Thank you</vt:lpstr>
      <vt:lpstr>PowerPoint Presentation</vt:lpstr>
      <vt:lpstr>Research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Golam Hafiz</dc:creator>
  <cp:lastModifiedBy>Md Golam Hafiz</cp:lastModifiedBy>
  <cp:revision>40</cp:revision>
  <dcterms:created xsi:type="dcterms:W3CDTF">2026-10-18T23:57:19Z</dcterms:created>
  <dcterms:modified xsi:type="dcterms:W3CDTF">2026-10-19T06:02:40Z</dcterms:modified>
</cp:coreProperties>
</file>